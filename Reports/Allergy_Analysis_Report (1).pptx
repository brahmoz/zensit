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D737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96012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4300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ALLERGY SYMPTOM ANALYSIS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143000" y="1325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MANAGEMENT STRATEGY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2926080" cy="36576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205740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E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Dataset  •  150 Logs  •  Relative Days 0–14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2331720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Zensit Export 26 Jul 2026  |  Kerala Climate Context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01752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163A4A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31089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48640" y="37033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Entries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606040" y="301752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163A4A"/>
          </a:solidFill>
          <a:ln/>
        </p:spPr>
      </p:sp>
      <p:sp>
        <p:nvSpPr>
          <p:cNvPr id="13" name="Text 10"/>
          <p:cNvSpPr/>
          <p:nvPr/>
        </p:nvSpPr>
        <p:spPr>
          <a:xfrm>
            <a:off x="2606040" y="31089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2606040" y="37033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Tracked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63440" y="301752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163A4A"/>
          </a:solidFill>
          <a:ln/>
        </p:spPr>
      </p:sp>
      <p:sp>
        <p:nvSpPr>
          <p:cNvPr id="16" name="Text 13"/>
          <p:cNvSpPr/>
          <p:nvPr/>
        </p:nvSpPr>
        <p:spPr>
          <a:xfrm>
            <a:off x="4663440" y="31089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531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4663440" y="37033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Sneezes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720840" y="3017520"/>
            <a:ext cx="1874520" cy="1097280"/>
          </a:xfrm>
          <a:prstGeom prst="roundRect">
            <a:avLst>
              <a:gd name="adj" fmla="val 6667"/>
            </a:avLst>
          </a:prstGeom>
          <a:solidFill>
            <a:srgbClr val="163A4A"/>
          </a:solidFill>
          <a:ln/>
        </p:spPr>
      </p:sp>
      <p:sp>
        <p:nvSpPr>
          <p:cNvPr id="19" name="Text 16"/>
          <p:cNvSpPr/>
          <p:nvPr/>
        </p:nvSpPr>
        <p:spPr>
          <a:xfrm>
            <a:off x="6720840" y="31089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A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720840" y="37033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Symptoms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Zensit Allergy Log Analysis  |  Updated 26 Jul 2026  |  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UPDATED TO DAY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resolution; full symptom cluster persists through Day 14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822960"/>
            <a:ext cx="91440" cy="109728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96012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Multi-System Pattern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26187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Redness (134), Headache (121), Itching (114) and Breathing (114) now dominate virtually every log from Day 11 onward. The cluster remains tightly linked with no spontaneous improvement.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011680"/>
            <a:ext cx="91440" cy="1097280"/>
          </a:xfrm>
          <a:prstGeom prst="rect">
            <a:avLst/>
          </a:prstGeom>
          <a:solidFill>
            <a:srgbClr val="E07A5F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14884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Unchanged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245059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single-entry sneeze count still 42 (Day 4). Days 10–14 continue high cumulative sneeze loads and frequent hospital visits for IV Avil / steroids. Ayurvedic medicine introduced but symptoms unabated.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200400"/>
            <a:ext cx="91440" cy="1097280"/>
          </a:xfrm>
          <a:prstGeom prst="rect">
            <a:avLst/>
          </a:prstGeom>
          <a:solidFill>
            <a:srgbClr val="E8A838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33756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Load Markers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363931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foamy-urine notes, mean water intake ~1.3 glasses, sleep quality almost exclusively “none/poor”, near-constant fatigue. These markers have intensified with longer observation.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Zensit Allergy Log Analysis  |  Updated 26 Jul 2026  |  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— 150 LOGS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coverage through relative day 14 (new data added 26 Jul)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3977640" cy="3703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914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&amp; Context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2801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Entries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743200" y="12801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16459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Days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1645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(0, 2–14)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011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Logs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20116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(52%)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2377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Logs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743200" y="2377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 (48%)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" y="27432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Temp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43200" y="2743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26.8 °C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" y="31089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Humidity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743200" y="31089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79.0 %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800" y="34747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 Range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0" y="34747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– 96 %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38404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Range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743200" y="3840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– 36 °C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663440" y="777240"/>
            <a:ext cx="4023360" cy="3703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46320" y="9144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Burden (Updated)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92040" y="1325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Redness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83680" y="132588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 logs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92040" y="1581912"/>
            <a:ext cx="3566160" cy="109728"/>
          </a:xfrm>
          <a:prstGeom prst="roundRect">
            <a:avLst>
              <a:gd name="adj" fmla="val 33333"/>
            </a:avLst>
          </a:prstGeom>
          <a:solidFill>
            <a:srgbClr val="E8EDED"/>
          </a:solidFill>
          <a:ln/>
        </p:spPr>
      </p:sp>
      <p:sp>
        <p:nvSpPr>
          <p:cNvPr id="30" name="Shape 28"/>
          <p:cNvSpPr/>
          <p:nvPr/>
        </p:nvSpPr>
        <p:spPr>
          <a:xfrm>
            <a:off x="4892040" y="1581912"/>
            <a:ext cx="3173882" cy="109728"/>
          </a:xfrm>
          <a:prstGeom prst="roundRect">
            <a:avLst>
              <a:gd name="adj" fmla="val 33333"/>
            </a:avLst>
          </a:prstGeom>
          <a:solidFill>
            <a:srgbClr val="0D7377"/>
          </a:solidFill>
          <a:ln/>
        </p:spPr>
      </p:sp>
      <p:sp>
        <p:nvSpPr>
          <p:cNvPr id="31" name="Text 29"/>
          <p:cNvSpPr/>
          <p:nvPr/>
        </p:nvSpPr>
        <p:spPr>
          <a:xfrm>
            <a:off x="4892040" y="1828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Headache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83680" y="1828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 logs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892040" y="2084832"/>
            <a:ext cx="3566160" cy="109728"/>
          </a:xfrm>
          <a:prstGeom prst="roundRect">
            <a:avLst>
              <a:gd name="adj" fmla="val 33333"/>
            </a:avLst>
          </a:prstGeom>
          <a:solidFill>
            <a:srgbClr val="E8EDED"/>
          </a:solidFill>
          <a:ln/>
        </p:spPr>
      </p:sp>
      <p:sp>
        <p:nvSpPr>
          <p:cNvPr id="34" name="Shape 32"/>
          <p:cNvSpPr/>
          <p:nvPr/>
        </p:nvSpPr>
        <p:spPr>
          <a:xfrm>
            <a:off x="4892040" y="2084832"/>
            <a:ext cx="2888590" cy="109728"/>
          </a:xfrm>
          <a:prstGeom prst="roundRect">
            <a:avLst>
              <a:gd name="adj" fmla="val 33333"/>
            </a:avLst>
          </a:prstGeom>
          <a:solidFill>
            <a:srgbClr val="0D7377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23317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Itching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583680" y="2331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 logs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92040" y="2587752"/>
            <a:ext cx="3566160" cy="109728"/>
          </a:xfrm>
          <a:prstGeom prst="roundRect">
            <a:avLst>
              <a:gd name="adj" fmla="val 33333"/>
            </a:avLst>
          </a:prstGeom>
          <a:solidFill>
            <a:srgbClr val="E8EDED"/>
          </a:solidFill>
          <a:ln/>
        </p:spPr>
      </p:sp>
      <p:sp>
        <p:nvSpPr>
          <p:cNvPr id="38" name="Shape 36"/>
          <p:cNvSpPr/>
          <p:nvPr/>
        </p:nvSpPr>
        <p:spPr>
          <a:xfrm>
            <a:off x="4892040" y="2587752"/>
            <a:ext cx="2710282" cy="109728"/>
          </a:xfrm>
          <a:prstGeom prst="roundRect">
            <a:avLst>
              <a:gd name="adj" fmla="val 33333"/>
            </a:avLst>
          </a:prstGeom>
          <a:solidFill>
            <a:srgbClr val="0D7377"/>
          </a:solidFill>
          <a:ln/>
        </p:spPr>
      </p:sp>
      <p:sp>
        <p:nvSpPr>
          <p:cNvPr id="39" name="Text 37"/>
          <p:cNvSpPr/>
          <p:nvPr/>
        </p:nvSpPr>
        <p:spPr>
          <a:xfrm>
            <a:off x="4892040" y="28346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Breathing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583680" y="2834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 logs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892040" y="3090672"/>
            <a:ext cx="3566160" cy="109728"/>
          </a:xfrm>
          <a:prstGeom prst="roundRect">
            <a:avLst>
              <a:gd name="adj" fmla="val 33333"/>
            </a:avLst>
          </a:prstGeom>
          <a:solidFill>
            <a:srgbClr val="E8EDED"/>
          </a:solidFill>
          <a:ln/>
        </p:spPr>
      </p:sp>
      <p:sp>
        <p:nvSpPr>
          <p:cNvPr id="42" name="Shape 40"/>
          <p:cNvSpPr/>
          <p:nvPr/>
        </p:nvSpPr>
        <p:spPr>
          <a:xfrm>
            <a:off x="4892040" y="3090672"/>
            <a:ext cx="2710282" cy="109728"/>
          </a:xfrm>
          <a:prstGeom prst="roundRect">
            <a:avLst>
              <a:gd name="adj" fmla="val 33333"/>
            </a:avLst>
          </a:prstGeom>
          <a:solidFill>
            <a:srgbClr val="0D7377"/>
          </a:solidFill>
          <a:ln/>
        </p:spPr>
      </p:sp>
      <p:sp>
        <p:nvSpPr>
          <p:cNvPr id="43" name="Text 41"/>
          <p:cNvSpPr/>
          <p:nvPr/>
        </p:nvSpPr>
        <p:spPr>
          <a:xfrm>
            <a:off x="4892040" y="33375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Bleeding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583680" y="33375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logs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892040" y="3593592"/>
            <a:ext cx="3566160" cy="109728"/>
          </a:xfrm>
          <a:prstGeom prst="roundRect">
            <a:avLst>
              <a:gd name="adj" fmla="val 33333"/>
            </a:avLst>
          </a:prstGeom>
          <a:solidFill>
            <a:srgbClr val="E8EDED"/>
          </a:solidFill>
          <a:ln/>
        </p:spPr>
      </p:sp>
      <p:sp>
        <p:nvSpPr>
          <p:cNvPr id="46" name="Shape 44"/>
          <p:cNvSpPr/>
          <p:nvPr/>
        </p:nvSpPr>
        <p:spPr>
          <a:xfrm>
            <a:off x="4892040" y="3593592"/>
            <a:ext cx="1248156" cy="109728"/>
          </a:xfrm>
          <a:prstGeom prst="roundRect">
            <a:avLst>
              <a:gd name="adj" fmla="val 33333"/>
            </a:avLst>
          </a:prstGeom>
          <a:solidFill>
            <a:srgbClr val="0D7377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Zensit Allergy Log Analysis  |  Updated 26 Jul 2026  |  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SYMPTOM PROFILE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symptoms remain tightly linked; prevalence has risen with longer observation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2697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6012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9784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Redness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134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640080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89 % of all logs – facial/nasal erythema now near-constant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91840" y="777240"/>
            <a:ext cx="2697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96012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931920" y="9784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Headache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47472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</a:t>
            </a:r>
            <a:endParaRPr lang="en-US" sz="2600" dirty="0"/>
          </a:p>
        </p:txBody>
      </p:sp>
      <p:sp>
        <p:nvSpPr>
          <p:cNvPr id="16" name="Text 12"/>
          <p:cNvSpPr/>
          <p:nvPr/>
        </p:nvSpPr>
        <p:spPr>
          <a:xfrm>
            <a:off x="3474720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81 % – sinus pressure / inflammatory component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126480" y="777240"/>
            <a:ext cx="2697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960120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66560" y="9784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Breathing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6309360" y="1417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</a:t>
            </a:r>
            <a:endParaRPr lang="en-US" sz="2600" dirty="0"/>
          </a:p>
        </p:txBody>
      </p:sp>
      <p:sp>
        <p:nvSpPr>
          <p:cNvPr id="21" name="Text 16"/>
          <p:cNvSpPr/>
          <p:nvPr/>
        </p:nvSpPr>
        <p:spPr>
          <a:xfrm>
            <a:off x="6309360" y="1874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76 % – airway involvement continues; Aerocort used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57200" y="2560320"/>
            <a:ext cx="2697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743200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97280" y="27614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Itching</a:t>
            </a:r>
            <a:endParaRPr lang="en-US" sz="1500" dirty="0"/>
          </a:p>
        </p:txBody>
      </p:sp>
      <p:sp>
        <p:nvSpPr>
          <p:cNvPr id="25" name="Text 19"/>
          <p:cNvSpPr/>
          <p:nvPr/>
        </p:nvSpPr>
        <p:spPr>
          <a:xfrm>
            <a:off x="64008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</a:t>
            </a:r>
            <a:endParaRPr lang="en-US" sz="2600" dirty="0"/>
          </a:p>
        </p:txBody>
      </p:sp>
      <p:sp>
        <p:nvSpPr>
          <p:cNvPr id="26" name="Text 20"/>
          <p:cNvSpPr/>
          <p:nvPr/>
        </p:nvSpPr>
        <p:spPr>
          <a:xfrm>
            <a:off x="640080" y="3657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76 % – skin + occasional ocular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3291840" y="2560320"/>
            <a:ext cx="2697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2743200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931920" y="27614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Bleeding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3474720" y="32004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</a:t>
            </a:r>
            <a:endParaRPr lang="en-US" sz="2600" dirty="0"/>
          </a:p>
        </p:txBody>
      </p:sp>
      <p:sp>
        <p:nvSpPr>
          <p:cNvPr id="31" name="Text 24"/>
          <p:cNvSpPr/>
          <p:nvPr/>
        </p:nvSpPr>
        <p:spPr>
          <a:xfrm>
            <a:off x="3474720" y="36576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35 % – epistaxis secondary to sneezing &amp; mucosal inflammation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Zensit Allergy Log Analysis  |  Updated 26 Jul 2026  |  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TRENDS — DAYS 0 TO 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after Day 2; full cluster locked in from Day 11 with no clear improvement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731520"/>
            <a:ext cx="8229600" cy="292608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731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731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103120" y="731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Sneezes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73152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024128"/>
            <a:ext cx="82296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02412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34440" y="10241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10241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10241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Itching, Bleeding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1298448"/>
            <a:ext cx="8229600" cy="274320"/>
          </a:xfrm>
          <a:prstGeom prst="rect">
            <a:avLst/>
          </a:prstGeom>
          <a:solidFill>
            <a:srgbClr val="E6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12984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34440" y="12984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03120" y="12984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12984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Asymptomatic window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1572768"/>
            <a:ext cx="82296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157276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234440" y="15727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103120" y="15727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0" y="15727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Redness emerges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1847088"/>
            <a:ext cx="8229600" cy="274320"/>
          </a:xfrm>
          <a:prstGeom prst="rect">
            <a:avLst/>
          </a:prstGeom>
          <a:solidFill>
            <a:srgbClr val="E6F5F5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" y="18470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234440" y="18470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103120" y="1847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0" y="18470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sneezes (42 in 1 log)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2121408"/>
            <a:ext cx="82296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21214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5–6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234440" y="21214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103120" y="21214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00400" y="21214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Redness + Headache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2395728"/>
            <a:ext cx="8229600" cy="274320"/>
          </a:xfrm>
          <a:prstGeom prst="rect">
            <a:avLst/>
          </a:prstGeom>
          <a:solidFill>
            <a:srgbClr val="E6F5F5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" y="239572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234440" y="2395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2103120" y="23957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200400" y="23957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cluster + Breathing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2670048"/>
            <a:ext cx="82296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502920" y="2670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234440" y="26700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2103120" y="26700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200400" y="26700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multi-symptom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" y="2944368"/>
            <a:ext cx="8229600" cy="274320"/>
          </a:xfrm>
          <a:prstGeom prst="rect">
            <a:avLst/>
          </a:prstGeom>
          <a:solidFill>
            <a:srgbClr val="E6F5F5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" y="294436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234440" y="29443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103120" y="29443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200400" y="29443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focus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3218688"/>
            <a:ext cx="82296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502920" y="32186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234440" y="321868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2103120" y="32186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3200400" y="321868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sneeze + Steroids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57200" y="3493008"/>
            <a:ext cx="8229600" cy="274320"/>
          </a:xfrm>
          <a:prstGeom prst="rect">
            <a:avLst/>
          </a:prstGeom>
          <a:solidFill>
            <a:srgbClr val="E6F5F5"/>
          </a:solidFill>
          <a:ln/>
        </p:spPr>
      </p:sp>
      <p:sp>
        <p:nvSpPr>
          <p:cNvPr id="58" name="Text 56"/>
          <p:cNvSpPr/>
          <p:nvPr/>
        </p:nvSpPr>
        <p:spPr>
          <a:xfrm>
            <a:off x="502920" y="34930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234440" y="349300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2103120" y="34930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200400" y="349300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core symptoms every log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457200" y="3767328"/>
            <a:ext cx="82296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502920" y="376732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234440" y="37673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2103120" y="37673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44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3200400" y="37673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logs – full cluster locked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457200" y="4041648"/>
            <a:ext cx="8229600" cy="274320"/>
          </a:xfrm>
          <a:prstGeom prst="rect">
            <a:avLst/>
          </a:prstGeom>
          <a:solidFill>
            <a:srgbClr val="E6F5F5"/>
          </a:solidFill>
          <a:ln/>
        </p:spPr>
      </p:sp>
      <p:sp>
        <p:nvSpPr>
          <p:cNvPr id="68" name="Text 66"/>
          <p:cNvSpPr/>
          <p:nvPr/>
        </p:nvSpPr>
        <p:spPr>
          <a:xfrm>
            <a:off x="502920" y="40416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1234440" y="404164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2103120" y="404164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3200400" y="404164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Continues unabated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457200" y="4315968"/>
            <a:ext cx="822960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3" name="Text 71"/>
          <p:cNvSpPr/>
          <p:nvPr/>
        </p:nvSpPr>
        <p:spPr>
          <a:xfrm>
            <a:off x="502920" y="431596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234440" y="43159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2103120" y="43159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3200400" y="43159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100 % core symptoms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Zensit Allergy Log Analysis  |  Updated 26 Jul 2026  |  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SNEEZE INTENSITY &amp; PEAK EPISODES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531 sneezes  •  Mean 3.5 per log  •  Max still 42 (Day 4)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2697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8686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1188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94360" y="164592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sneezes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1920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log of 42 – extreme paroxysm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91840" y="777240"/>
            <a:ext cx="2697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429000" y="8686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10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1188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429000" y="164592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sneezes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1920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10–12 sneeze hospital entries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26480" y="777240"/>
            <a:ext cx="269748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63640" y="86868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11887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263640" y="164592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sneezes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63640" y="192024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logs still carrying high load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514600"/>
            <a:ext cx="822960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514600"/>
            <a:ext cx="91440" cy="1965960"/>
          </a:xfrm>
          <a:prstGeom prst="rect">
            <a:avLst/>
          </a:prstGeom>
          <a:solidFill>
            <a:srgbClr val="E07A5F"/>
          </a:solidFill>
          <a:ln/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697480"/>
            <a:ext cx="292608" cy="29260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43000" y="269748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Note on Persistent High Sneeze Counts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31520" y="31089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14+ days of observation, multiple hospital visits, repeated IV antihistamines/steroids and introduction of Ayurvedic medicine, sneeze burden and the full symptom cluster remain essentially unchanged. This strongly indicates ongoing allergen exposure (most likely indoor dust-mite / mold given the high-humidity Kerala setting) rather than a self-limited acute process. Rescue therapy alone is insufficient; environmental control + controller medication + allergen identification are now urgent.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Zensit Allergy Log Analysis  |  Updated 26 Jul 2026  |  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&amp; LOCATION FACTORS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humidity continues; triggers present in both Home and Hospital settings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3977640" cy="3703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96012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96012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Context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85800" y="1417320"/>
            <a:ext cx="35661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temperature 26.8 °C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humidity 79 % (range 21–96 %)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high-symptom days at 90–96 % humidity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Low-humidity Day 2 (21 %) was relatively quiet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 remains strong: indoor humidity control (target 40–55 %) and dust-mite impermeable covers are high-leverage interventions in this climate.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663440" y="777240"/>
            <a:ext cx="4023360" cy="3703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960120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9601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vs Hospital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892040" y="1417320"/>
            <a:ext cx="3611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 Home / 72 Hospital logs (still ~50:50)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sneeze counts often recorded during Hospital stays – acute presentations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symptom cluster is equally present at Home → triggers are not hospital-specific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irritants: smoke + perfume (earlier log). Chemical sensitivity component remains relevant.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Zensit Allergy Log Analysis  |  Updated 26 Jul 2026  |  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USAGE PATTERNS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heavy reliance on injectable antihistamines + steroids; Ayurvedic added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329184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77724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377440" y="7772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0" y="77724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 Observed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0" y="77724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106424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110642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Avil (Pheniramine)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77440" y="110642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1st-gen antihistamine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0" y="1106424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 – IV/IM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1106424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Sedating; short-acting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1581912"/>
            <a:ext cx="8229600" cy="475488"/>
          </a:xfrm>
          <a:prstGeom prst="rect">
            <a:avLst/>
          </a:prstGeom>
          <a:solidFill>
            <a:srgbClr val="E6F5F5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158191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Dexona / Betnesol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377440" y="158191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corticosteroid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0" y="158191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IV doses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1581912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 anti-inflammatory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05740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205740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Dazit 10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377440" y="20574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2nd-gen antihistamine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389120" y="2057400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Oral, intermittent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0" y="2057400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Non-sedating preferred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2532888"/>
            <a:ext cx="8229600" cy="475488"/>
          </a:xfrm>
          <a:prstGeom prst="rect">
            <a:avLst/>
          </a:prstGeom>
          <a:solidFill>
            <a:srgbClr val="E6F5F5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253288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Aerocort Inhaler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377440" y="25328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 + LABA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389120" y="2532888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Breathing symptoms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00800" y="253288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Airway component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3008376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00837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Ayurvedic medicine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377440" y="300837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Complementary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389120" y="3008376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12–14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400800" y="3008376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effect yet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" y="36576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observation: 14+ days of rescue therapy (IV Avil + steroids) without meaningful symptom reduction indicates the need to shift from crisis management to controller therapy + allergen avoidance.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Zensit Allergy Log Analysis  |  Updated 26 Jul 2026  |  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 WELLNESS MARKERS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Systemic load has intensified with longer observation period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058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Hydration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~1.3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40080" y="17373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glasses logged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1965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0–1 on high-symptom days; worsens mucosal dryness &amp; headache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54880" y="77724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005840"/>
            <a:ext cx="320040" cy="3200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94960" y="10058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Quality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937760" y="14630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“none/poor”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937760" y="173736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105 notes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4937760" y="19659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disruption amplifies next-day inflammatory load and fatigue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57200" y="256032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78892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09728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Fatigue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40080" y="3246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Near-constant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40080" y="35204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tag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640080" y="3749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later log carries “fatigued” – multi-factorial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4754880" y="2560320"/>
            <a:ext cx="41148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788920"/>
            <a:ext cx="320040" cy="32004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394960" y="2788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Foamy Urine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4937760" y="3246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101 notes</a:t>
            </a:r>
            <a:endParaRPr lang="en-US" sz="1600" dirty="0"/>
          </a:p>
        </p:txBody>
      </p:sp>
      <p:sp>
        <p:nvSpPr>
          <p:cNvPr id="29" name="Text 23"/>
          <p:cNvSpPr/>
          <p:nvPr/>
        </p:nvSpPr>
        <p:spPr>
          <a:xfrm>
            <a:off x="4937760" y="352044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later logs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4937760" y="37490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finding – basic urine routine / renal check advised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Zensit Allergy Log Analysis  |  Updated 26 Jul 2026  |  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INSIGHTS (UPDATED)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diagnosis unchanged; urgency for definitive work-up has increased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777240"/>
            <a:ext cx="109728" cy="141732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91440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Working Diagnosis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2344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Severe, poorly controlled Allergic Rhinitis (likely mixed with irritant component) + allergic airway hyper-responsiveness. High probability of perennial indoor allergens (dust-mite / mold) given the sustained high-humidity Kerala setting and lack of improvement after 14 days of symptomatic treatment.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/ Contributing Factors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69748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8072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Chronic Rhinosinusitis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108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Headache + nasal symptoms + epistaxis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269748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28072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Non-allergic / Irritant Rhinitis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3108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Smoke, perfume, chemical sensitivity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56616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0080" y="3675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Asthma component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977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Breathing difficulty + Aerocort use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356616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367588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Medication overuse rebound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977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1st-gen AH may contribute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Zensit Allergy Log Analysis  |  Updated 26 Jul 2026  |  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MANAGEMENT (NEXT 7–14 DAYS)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 while arranging definitive evaluation – priority is now higher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73152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05156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051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84124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Pharmacotherapy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114300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Move to regular daily non-sedating 2nd-generation antihistamine (Desloratadine / Fexofenadine / Bilastine)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Add daily intranasal corticosteroid (mometasone or fluticasone) as controller – first-line for persistent AR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Limit further IV steroids to true acute rescue only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28600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207568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Aggressive Environmental Control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23774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Keep indoor humidity 40–55 % (dehumidifier / AC)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Hot-wash bedding weekly + dust-mite impermeable covers on mattress &amp; pillows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Avoid smoke, perfume, strong cleaners, incense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200400"/>
            <a:ext cx="8229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520440"/>
            <a:ext cx="457200" cy="457200"/>
          </a:xfrm>
          <a:prstGeom prst="ellipse">
            <a:avLst/>
          </a:pr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520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331012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Supportive Measures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36118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Target ≥ 2.5–3 L fluid/day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Nasal saline irrigation twice daily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Protect sleep: fixed schedule, cool dark room, treat residual night symptoms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F2B3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800600"/>
            <a:ext cx="6858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normAutofit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Zensit Allergy Log Analysis  |  Updated 26 Jul 2026  |  Confidential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772400" y="4800600"/>
            <a:ext cx="109728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DIAGNOSTIC &amp; PREVENTION PLAN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14 days of sustained symptoms, definitive evaluation is overdue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73152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868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Specialist Referral (Priority)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1887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Allergist / Immunologist for skin-prick or specific IgE (dust mite, mold mix, pollen, cockroach). ENT if chronic sinus features persist.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73152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868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Therapy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1887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intranasal corticosteroid is standard of care for persistent allergic rhinitis. Consider montelukast if airway component confirmed.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196596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21031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Allergen Immunotherapy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24231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dust-mite or mold dominant on testing, discuss SCIT or SLIT – the only disease-modifying option currently available.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96596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21031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Investigations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24231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 + differential (eosinophils), total IgE, urine routine (persistent foamy urine), spirometry / peak-flow diary.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3375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Continued Structured Logging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6576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Zensit logging; add daily allergen-exposure notes, peak-flow if possible, and medication adherence. Review every 1–2 weeks.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3200400"/>
            <a:ext cx="41148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37760" y="33375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Red-Flag Escalation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36576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5C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 care for: desaturation, inability to complete sentences, facial swelling/angioedema, or epistaxis lasting &gt;20 minutes.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Allergy Symptom Analysis &amp; Management Strategy – Updated</dc:title>
  <dc:subject>Personal health log analysis – July 2026 (through Day 14)</dc:subject>
  <dc:creator>Zensit Health Analysis</dc:creator>
  <cp:lastModifiedBy>Zensit Health Analysis</cp:lastModifiedBy>
  <cp:revision>1</cp:revision>
  <dcterms:created xsi:type="dcterms:W3CDTF">2026-07-26T12:23:40Z</dcterms:created>
  <dcterms:modified xsi:type="dcterms:W3CDTF">2026-07-26T12:23:40Z</dcterms:modified>
</cp:coreProperties>
</file>